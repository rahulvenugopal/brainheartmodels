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7"/>
  </p:notesMasterIdLst>
  <p:sldIdLst>
    <p:sldId id="256" r:id="rId2"/>
    <p:sldId id="258" r:id="rId3"/>
    <p:sldId id="262" r:id="rId4"/>
    <p:sldId id="263" r:id="rId5"/>
    <p:sldId id="259" r:id="rId6"/>
  </p:sldIdLst>
  <p:sldSz cx="9144000" cy="5143500" type="screen16x9"/>
  <p:notesSz cx="6858000" cy="9144000"/>
  <p:embeddedFontLst>
    <p:embeddedFont>
      <p:font typeface="Anaheim" panose="020B0604020202020204" charset="0"/>
      <p:regular r:id="rId8"/>
      <p:bold r:id="rId9"/>
    </p:embeddedFont>
    <p:embeddedFont>
      <p:font typeface="Barlow Medium" panose="00000600000000000000" pitchFamily="2" charset="0"/>
      <p:regular r:id="rId10"/>
      <p:bold r:id="rId11"/>
      <p:italic r:id="rId12"/>
      <p:boldItalic r:id="rId13"/>
    </p:embeddedFont>
    <p:embeddedFont>
      <p:font typeface="ZCOOL XiaoWei" panose="00000500000000000000" pitchFamily="2" charset="0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5452"/>
    <a:srgbClr val="F15370"/>
    <a:srgbClr val="ABB0F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2EEEF8-D99D-4004-B7BB-F8C6E5456D95}">
  <a:tblStyle styleId="{642EEEF8-D99D-4004-B7BB-F8C6E5456D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93" autoAdjust="0"/>
    <p:restoredTop sz="94915" autoAdjust="0"/>
  </p:normalViewPr>
  <p:slideViewPr>
    <p:cSldViewPr snapToGrid="0" showGuides="1">
      <p:cViewPr>
        <p:scale>
          <a:sx n="105" d="100"/>
          <a:sy n="105" d="100"/>
        </p:scale>
        <p:origin x="741" y="39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e4cda17e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e4cda17e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1" name="Google Shape;411;g14072739ea5_12_0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/>
                  <a:t>each Laguerre function corresponds to a </a:t>
                </a:r>
                <a:r>
                  <a:rPr lang="en-US" sz="800" b="1" dirty="0"/>
                  <a:t>family of frequencies weighted over time</a:t>
                </a:r>
                <a:r>
                  <a:rPr lang="en-US" sz="800" dirty="0"/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/>
                  <a:t>Low-order Laguerre → low-pass, tonic behavior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/>
                  <a:t>Very high order → increasingly oscillatory but still causal and decaying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800" dirty="0"/>
                  <a:t>Laguerre expansions encode </a:t>
                </a:r>
                <a:r>
                  <a:rPr lang="en-IN" sz="800" b="1" dirty="0"/>
                  <a:t>temporal structure</a:t>
                </a:r>
                <a:r>
                  <a:rPr lang="en-IN" sz="800" dirty="0"/>
                  <a:t>, not explicit frequency bins.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/>
                  <a:t>“How does the </a:t>
                </a:r>
                <a:r>
                  <a:rPr lang="en-US" sz="800" b="1" dirty="0"/>
                  <a:t>recent past over multiple time scales</a:t>
                </a:r>
                <a:r>
                  <a:rPr lang="en-US" sz="800" dirty="0"/>
                  <a:t> influence the present?”</a:t>
                </a:r>
              </a:p>
              <a:p>
                <a:r>
                  <a:rPr lang="en-US" sz="800" dirty="0"/>
                  <a:t>a≈0: very short memory</a:t>
                </a:r>
              </a:p>
              <a:p>
                <a14:m>
                  <m:oMath xmlns:m="http://schemas.openxmlformats.org/officeDocument/2006/math">
                    <m:r>
                      <a:rPr lang="en-US" sz="1100" b="0" i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𝑎</m:t>
                    </m:r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≈1</m:t>
                    </m:r>
                  </m:oMath>
                </a14:m>
                <a:r>
                  <a:rPr lang="en-US" sz="800" dirty="0"/>
                  <a:t>: very long memory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800" dirty="0"/>
                  <a:t>memory length≈1/1-a</a:t>
                </a:r>
              </a:p>
              <a:p>
                <a:r>
                  <a:rPr lang="en-US" sz="800" dirty="0"/>
                  <a:t>M=1: single low-pass memory</a:t>
                </a:r>
              </a:p>
              <a:p>
                <a14:m>
                  <m:oMath xmlns:m="http://schemas.openxmlformats.org/officeDocument/2006/math">
                    <m:r>
                      <a:rPr lang="en-US" sz="1100" b="0" i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𝑀</m:t>
                    </m:r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=3</m:t>
                    </m:r>
                  </m:oMath>
                </a14:m>
                <a:r>
                  <a:rPr lang="en-US" sz="800" dirty="0"/>
                  <a:t>: baseline + trend + curvature</a:t>
                </a:r>
              </a:p>
              <a:p>
                <a14:m>
                  <m:oMath xmlns:m="http://schemas.openxmlformats.org/officeDocument/2006/math">
                    <m:r>
                      <a:rPr lang="en-US" sz="1100" b="0" i="1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𝑀</m:t>
                    </m:r>
                    <m:r>
                      <a:rPr lang="en-US" sz="11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m:t>=9</m:t>
                    </m:r>
                  </m:oMath>
                </a14:m>
                <a:r>
                  <a:rPr lang="en-US" sz="800" dirty="0"/>
                  <a:t>: multiple oscillatory memory channels (typical in autonomic modeling)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800" dirty="0"/>
                  <a:t>​</a:t>
                </a:r>
                <a:endParaRPr sz="800" dirty="0"/>
              </a:p>
            </p:txBody>
          </p:sp>
        </mc:Choice>
        <mc:Fallback>
          <p:sp>
            <p:nvSpPr>
              <p:cNvPr id="411" name="Google Shape;411;g14072739ea5_12_0:notes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85800" y="4343400"/>
                <a:ext cx="5486400" cy="41148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/>
                  <a:t>each Laguerre function corresponds to a </a:t>
                </a:r>
                <a:r>
                  <a:rPr lang="en-US" sz="800" b="1" dirty="0"/>
                  <a:t>family of frequencies weighted over time</a:t>
                </a:r>
                <a:r>
                  <a:rPr lang="en-US" sz="800" dirty="0"/>
                  <a:t>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/>
                  <a:t>Low-order Laguerre → low-pass, tonic behavior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/>
                  <a:t>Very high order → increasingly oscillatory but still causal and decaying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800" dirty="0"/>
                  <a:t>Laguerre expansions encode </a:t>
                </a:r>
                <a:r>
                  <a:rPr lang="en-IN" sz="800" b="1" dirty="0"/>
                  <a:t>temporal structure</a:t>
                </a:r>
                <a:r>
                  <a:rPr lang="en-IN" sz="800" dirty="0"/>
                  <a:t>, not explicit frequency bins.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" dirty="0"/>
                  <a:t>“How does the </a:t>
                </a:r>
                <a:r>
                  <a:rPr lang="en-US" sz="800" b="1" dirty="0"/>
                  <a:t>recent past over multiple time scales</a:t>
                </a:r>
                <a:r>
                  <a:rPr lang="en-US" sz="800" dirty="0"/>
                  <a:t> influence the present?”</a:t>
                </a:r>
              </a:p>
              <a:p>
                <a:r>
                  <a:rPr lang="en-US" sz="800" dirty="0"/>
                  <a:t>a≈0: very short memory</a:t>
                </a:r>
              </a:p>
              <a:p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𝑎≈1</a:t>
                </a:r>
                <a:r>
                  <a:rPr lang="en-US" sz="800" dirty="0"/>
                  <a:t>: very long memory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800" dirty="0"/>
                  <a:t>memory length≈1/1-a</a:t>
                </a:r>
              </a:p>
              <a:p>
                <a:r>
                  <a:rPr lang="en-US" sz="800" dirty="0"/>
                  <a:t>M=1: single low-pass memory</a:t>
                </a:r>
              </a:p>
              <a:p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𝑀=3</a:t>
                </a:r>
                <a:r>
                  <a:rPr lang="en-US" sz="800" dirty="0"/>
                  <a:t>: baseline + trend + curvature</a:t>
                </a:r>
              </a:p>
              <a:p>
                <a:r>
                  <a:rPr lang="en-US" sz="11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𝑀=9</a:t>
                </a:r>
                <a:r>
                  <a:rPr lang="en-US" sz="800" dirty="0"/>
                  <a:t>: multiple oscillatory memory channels (typical in autonomic modeling)</a:t>
                </a: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800" dirty="0"/>
                  <a:t>​</a:t>
                </a:r>
                <a:endParaRPr sz="800" dirty="0"/>
              </a:p>
            </p:txBody>
          </p:sp>
        </mc:Fallback>
      </mc:AlternateContent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png"/><Relationship Id="rId5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4103851"/>
            <a:ext cx="3126826" cy="103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21025"/>
            <a:ext cx="1819518" cy="7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25" y="1245388"/>
            <a:ext cx="5863500" cy="174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350" y="3240275"/>
            <a:ext cx="4410000" cy="4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9"/>
          <p:cNvPicPr preferRelativeResize="0"/>
          <p:nvPr/>
        </p:nvPicPr>
        <p:blipFill rotWithShape="1">
          <a:blip r:embed="rId2">
            <a:alphaModFix/>
          </a:blip>
          <a:srcRect r="16135"/>
          <a:stretch/>
        </p:blipFill>
        <p:spPr>
          <a:xfrm flipH="1">
            <a:off x="0" y="1084063"/>
            <a:ext cx="1295375" cy="2975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95754">
            <a:off x="-981571" y="2373190"/>
            <a:ext cx="4022801" cy="3119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08074" y="-1"/>
            <a:ext cx="1367575" cy="2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9"/>
          <p:cNvPicPr preferRelativeResize="0"/>
          <p:nvPr/>
        </p:nvPicPr>
        <p:blipFill rotWithShape="1">
          <a:blip r:embed="rId5">
            <a:alphaModFix/>
          </a:blip>
          <a:srcRect b="36588"/>
          <a:stretch/>
        </p:blipFill>
        <p:spPr>
          <a:xfrm>
            <a:off x="8145575" y="2137713"/>
            <a:ext cx="570400" cy="86807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2135550" y="1573088"/>
            <a:ext cx="4872900" cy="146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2135550" y="28993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3"/>
          <p:cNvPicPr preferRelativeResize="0"/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7744976" y="-685582"/>
            <a:ext cx="1131825" cy="127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437550" y="3106903"/>
            <a:ext cx="804000" cy="1640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4">
            <a:alphaModFix/>
          </a:blip>
          <a:srcRect b="28845"/>
          <a:stretch/>
        </p:blipFill>
        <p:spPr>
          <a:xfrm flipH="1">
            <a:off x="0" y="3906747"/>
            <a:ext cx="1777300" cy="123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84748" y="4481174"/>
            <a:ext cx="892060" cy="66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9057" y="184746"/>
            <a:ext cx="557734" cy="33970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ZCOOL XiaoWei"/>
              <a:buNone/>
              <a:defRPr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ZCOOL XiaoWei"/>
              <a:buNone/>
              <a:defRPr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ZCOOL XiaoWei"/>
              <a:buNone/>
              <a:defRPr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ZCOOL XiaoWei"/>
              <a:buNone/>
              <a:defRPr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ZCOOL XiaoWei"/>
              <a:buNone/>
              <a:defRPr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ZCOOL XiaoWei"/>
              <a:buNone/>
              <a:defRPr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ZCOOL XiaoWei"/>
              <a:buNone/>
              <a:defRPr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ZCOOL XiaoWei"/>
              <a:buNone/>
              <a:defRPr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523988" y="2066101"/>
            <a:ext cx="304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2"/>
          </p:nvPr>
        </p:nvSpPr>
        <p:spPr>
          <a:xfrm>
            <a:off x="5382782" y="2066101"/>
            <a:ext cx="304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3"/>
          </p:nvPr>
        </p:nvSpPr>
        <p:spPr>
          <a:xfrm>
            <a:off x="1523988" y="3566750"/>
            <a:ext cx="304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4"/>
          </p:nvPr>
        </p:nvSpPr>
        <p:spPr>
          <a:xfrm>
            <a:off x="5382782" y="3566750"/>
            <a:ext cx="304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5" hasCustomPrompt="1"/>
          </p:nvPr>
        </p:nvSpPr>
        <p:spPr>
          <a:xfrm>
            <a:off x="719998" y="1790500"/>
            <a:ext cx="8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title" idx="6" hasCustomPrompt="1"/>
          </p:nvPr>
        </p:nvSpPr>
        <p:spPr>
          <a:xfrm>
            <a:off x="719998" y="3291149"/>
            <a:ext cx="8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7" hasCustomPrompt="1"/>
          </p:nvPr>
        </p:nvSpPr>
        <p:spPr>
          <a:xfrm>
            <a:off x="4578777" y="1790500"/>
            <a:ext cx="8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title" idx="8" hasCustomPrompt="1"/>
          </p:nvPr>
        </p:nvSpPr>
        <p:spPr>
          <a:xfrm>
            <a:off x="4578777" y="3291149"/>
            <a:ext cx="8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i="1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ZCOOL XiaoWei"/>
              <a:buNone/>
              <a:defRPr sz="3000"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r>
              <a:t>xx%</a:t>
            </a:r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9"/>
          </p:nvPr>
        </p:nvSpPr>
        <p:spPr>
          <a:xfrm>
            <a:off x="1523988" y="1479706"/>
            <a:ext cx="3048000" cy="7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2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3"/>
          </p:nvPr>
        </p:nvSpPr>
        <p:spPr>
          <a:xfrm>
            <a:off x="5382786" y="1479706"/>
            <a:ext cx="3048000" cy="7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2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4"/>
          </p:nvPr>
        </p:nvSpPr>
        <p:spPr>
          <a:xfrm>
            <a:off x="1523988" y="2980527"/>
            <a:ext cx="3048000" cy="7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2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5"/>
          </p:nvPr>
        </p:nvSpPr>
        <p:spPr>
          <a:xfrm>
            <a:off x="5382786" y="2980527"/>
            <a:ext cx="3048000" cy="73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2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ZCOOL XiaoWei"/>
              <a:buNone/>
              <a:defRPr sz="2400"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3100" y="4359102"/>
            <a:ext cx="1475800" cy="96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6756" y="4103196"/>
            <a:ext cx="1777244" cy="11345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100" y="104700"/>
            <a:ext cx="1015275" cy="49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4"/>
          <p:cNvSpPr txBox="1">
            <a:spLocks noGrp="1"/>
          </p:cNvSpPr>
          <p:nvPr>
            <p:ph type="subTitle" idx="1"/>
          </p:nvPr>
        </p:nvSpPr>
        <p:spPr>
          <a:xfrm>
            <a:off x="824850" y="3071025"/>
            <a:ext cx="7494300" cy="12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subTitle" idx="2"/>
          </p:nvPr>
        </p:nvSpPr>
        <p:spPr>
          <a:xfrm>
            <a:off x="824850" y="1518050"/>
            <a:ext cx="7494300" cy="12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lt1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422381" y="3865926"/>
            <a:ext cx="1790575" cy="127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56750" y="3781032"/>
            <a:ext cx="2004564" cy="136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8954" y="95651"/>
            <a:ext cx="1030450" cy="627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-663510" y="2549936"/>
            <a:ext cx="1867475" cy="193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02577" y="2184900"/>
            <a:ext cx="1188625" cy="2071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35"/>
          <p:cNvPicPr preferRelativeResize="0"/>
          <p:nvPr/>
        </p:nvPicPr>
        <p:blipFill>
          <a:blip r:embed="rId7">
            <a:alphaModFix amt="60000"/>
          </a:blip>
          <a:stretch>
            <a:fillRect/>
          </a:stretch>
        </p:blipFill>
        <p:spPr>
          <a:xfrm flipH="1">
            <a:off x="7651878" y="-664607"/>
            <a:ext cx="1131825" cy="127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3329928" y="4345591"/>
            <a:ext cx="2484149" cy="79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6"/>
          <p:cNvPicPr preferRelativeResize="0"/>
          <p:nvPr/>
        </p:nvPicPr>
        <p:blipFill rotWithShape="1">
          <a:blip r:embed="rId3">
            <a:alphaModFix/>
          </a:blip>
          <a:srcRect r="10378"/>
          <a:stretch/>
        </p:blipFill>
        <p:spPr>
          <a:xfrm flipH="1">
            <a:off x="-30123" y="2343950"/>
            <a:ext cx="1649642" cy="2840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911417" y="4118467"/>
            <a:ext cx="404611" cy="971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25691" y="4603998"/>
            <a:ext cx="634763" cy="47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33974" y="3464550"/>
            <a:ext cx="2410024" cy="172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-30125" y="4021811"/>
            <a:ext cx="2553000" cy="1148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6"/>
          <p:cNvPicPr preferRelativeResize="0"/>
          <p:nvPr/>
        </p:nvPicPr>
        <p:blipFill>
          <a:blip r:embed="rId8">
            <a:alphaModFix amt="60000"/>
          </a:blip>
          <a:stretch>
            <a:fillRect/>
          </a:stretch>
        </p:blipFill>
        <p:spPr>
          <a:xfrm flipH="1">
            <a:off x="267200" y="-685571"/>
            <a:ext cx="1841475" cy="207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267215" y="730451"/>
            <a:ext cx="907431" cy="552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ZCOOL XiaoWei"/>
              <a:buNone/>
              <a:defRPr sz="33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COOL XiaoWei"/>
              <a:buNone/>
              <a:defRPr sz="28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COOL XiaoWei"/>
              <a:buNone/>
              <a:defRPr sz="28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COOL XiaoWei"/>
              <a:buNone/>
              <a:defRPr sz="28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COOL XiaoWei"/>
              <a:buNone/>
              <a:defRPr sz="28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COOL XiaoWei"/>
              <a:buNone/>
              <a:defRPr sz="28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COOL XiaoWei"/>
              <a:buNone/>
              <a:defRPr sz="28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COOL XiaoWei"/>
              <a:buNone/>
              <a:defRPr sz="28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ZCOOL XiaoWei"/>
              <a:buNone/>
              <a:defRPr sz="2800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●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○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Medium"/>
              <a:buChar char="■"/>
              <a:defRPr>
                <a:solidFill>
                  <a:schemeClr val="dk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9" r:id="rId3"/>
    <p:sldLayoutId id="2147483670" r:id="rId4"/>
    <p:sldLayoutId id="2147483681" r:id="rId5"/>
    <p:sldLayoutId id="2147483682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0.png"/><Relationship Id="rId9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0"/>
          <p:cNvSpPr txBox="1">
            <a:spLocks noGrp="1"/>
          </p:cNvSpPr>
          <p:nvPr>
            <p:ph type="ctrTitle"/>
          </p:nvPr>
        </p:nvSpPr>
        <p:spPr>
          <a:xfrm>
            <a:off x="164614" y="2675119"/>
            <a:ext cx="5314509" cy="59542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" sz="4800" dirty="0">
                <a:solidFill>
                  <a:srgbClr val="ABB0FF"/>
                </a:solidFill>
              </a:rPr>
              <a:t>Brain</a:t>
            </a:r>
            <a:r>
              <a:rPr lang="en" sz="4800" dirty="0"/>
              <a:t> </a:t>
            </a:r>
            <a:r>
              <a:rPr lang="en" sz="4800" dirty="0">
                <a:solidFill>
                  <a:srgbClr val="F15370"/>
                </a:solidFill>
              </a:rPr>
              <a:t>Heart</a:t>
            </a:r>
            <a:r>
              <a:rPr lang="en" sz="4800" dirty="0"/>
              <a:t> Models</a:t>
            </a:r>
            <a:endParaRPr sz="4800" dirty="0"/>
          </a:p>
        </p:txBody>
      </p:sp>
      <p:grpSp>
        <p:nvGrpSpPr>
          <p:cNvPr id="341" name="Google Shape;341;p40"/>
          <p:cNvGrpSpPr/>
          <p:nvPr/>
        </p:nvGrpSpPr>
        <p:grpSpPr>
          <a:xfrm>
            <a:off x="4630209" y="496151"/>
            <a:ext cx="4673668" cy="5201315"/>
            <a:chOff x="4630209" y="496151"/>
            <a:chExt cx="4673668" cy="5201315"/>
          </a:xfrm>
        </p:grpSpPr>
        <p:pic>
          <p:nvPicPr>
            <p:cNvPr id="342" name="Google Shape;342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77424" y="1190775"/>
              <a:ext cx="2823002" cy="2110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3" name="Google Shape;34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700227" y="880760"/>
              <a:ext cx="1603650" cy="2474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4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172975" y="3807551"/>
              <a:ext cx="2971025" cy="1335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4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7491975" y="1982913"/>
              <a:ext cx="810150" cy="11776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4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869450" y="496151"/>
              <a:ext cx="1373925" cy="836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7" name="Google Shape;347;p40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837450" y="2929882"/>
              <a:ext cx="4306550" cy="1494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40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 rot="-852994" flipH="1">
              <a:off x="4751652" y="3728339"/>
              <a:ext cx="4052597" cy="1494375"/>
            </a:xfrm>
            <a:prstGeom prst="rect">
              <a:avLst/>
            </a:prstGeom>
            <a:noFill/>
            <a:ln>
              <a:noFill/>
            </a:ln>
            <a:effectLst>
              <a:reflection endPos="30000" dist="38100" dir="5400000" fadeDir="5400012" sy="-100000" algn="bl" rotWithShape="0"/>
            </a:effectLst>
          </p:spPr>
        </p:pic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826" y="98279"/>
            <a:ext cx="1260000" cy="1260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471" y="98279"/>
            <a:ext cx="1260000" cy="1260000"/>
          </a:xfrm>
          <a:prstGeom prst="rect">
            <a:avLst/>
          </a:prstGeom>
        </p:spPr>
      </p:pic>
      <p:sp>
        <p:nvSpPr>
          <p:cNvPr id="340" name="Google Shape;340;p40"/>
          <p:cNvSpPr txBox="1">
            <a:spLocks noGrp="1"/>
          </p:cNvSpPr>
          <p:nvPr>
            <p:ph type="subTitle" idx="1"/>
          </p:nvPr>
        </p:nvSpPr>
        <p:spPr>
          <a:xfrm>
            <a:off x="2685335" y="4178581"/>
            <a:ext cx="3656915" cy="9649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E5452"/>
                </a:solidFill>
              </a:rPr>
              <a:t>Dr. Rahul Venugopal</a:t>
            </a:r>
            <a:br>
              <a:rPr lang="en" dirty="0">
                <a:solidFill>
                  <a:srgbClr val="4E5452"/>
                </a:solidFill>
              </a:rPr>
            </a:br>
            <a:r>
              <a:rPr lang="en" dirty="0">
                <a:solidFill>
                  <a:srgbClr val="4E5452"/>
                </a:solidFill>
              </a:rPr>
              <a:t>Cognitive Scientist</a:t>
            </a:r>
            <a:br>
              <a:rPr lang="en" dirty="0">
                <a:solidFill>
                  <a:srgbClr val="4E5452"/>
                </a:solidFill>
              </a:rPr>
            </a:br>
            <a:r>
              <a:rPr lang="en" dirty="0">
                <a:solidFill>
                  <a:srgbClr val="4E5452"/>
                </a:solidFill>
              </a:rPr>
              <a:t>Centre for Consciousness Studies</a:t>
            </a:r>
            <a:endParaRPr dirty="0">
              <a:solidFill>
                <a:srgbClr val="4E5452"/>
              </a:solidFill>
            </a:endParaRPr>
          </a:p>
        </p:txBody>
      </p:sp>
      <p:pic>
        <p:nvPicPr>
          <p:cNvPr id="1026" name="Picture 2" descr="NW Chiro blog - heart and brain connection">
            <a:extLst>
              <a:ext uri="{FF2B5EF4-FFF2-40B4-BE49-F238E27FC236}">
                <a16:creationId xmlns:a16="http://schemas.microsoft.com/office/drawing/2014/main" id="{4F2E793F-600A-B35F-3998-B113D718A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clrChange>
              <a:clrFrom>
                <a:srgbClr val="EBEBEB"/>
              </a:clrFrom>
              <a:clrTo>
                <a:srgbClr val="EBEBE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84" y="191522"/>
            <a:ext cx="4154744" cy="2420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2"/>
          <p:cNvSpPr txBox="1">
            <a:spLocks noGrp="1"/>
          </p:cNvSpPr>
          <p:nvPr>
            <p:ph type="title"/>
          </p:nvPr>
        </p:nvSpPr>
        <p:spPr>
          <a:xfrm>
            <a:off x="2423074" y="-23419"/>
            <a:ext cx="429785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Outline</a:t>
            </a:r>
            <a:endParaRPr dirty="0"/>
          </a:p>
        </p:txBody>
      </p:sp>
      <p:sp>
        <p:nvSpPr>
          <p:cNvPr id="371" name="Google Shape;371;p42"/>
          <p:cNvSpPr txBox="1">
            <a:spLocks noGrp="1"/>
          </p:cNvSpPr>
          <p:nvPr>
            <p:ph type="title" idx="5"/>
          </p:nvPr>
        </p:nvSpPr>
        <p:spPr>
          <a:xfrm>
            <a:off x="267372" y="582557"/>
            <a:ext cx="8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373" name="Google Shape;373;p42"/>
          <p:cNvSpPr txBox="1">
            <a:spLocks noGrp="1"/>
          </p:cNvSpPr>
          <p:nvPr>
            <p:ph type="title" idx="7"/>
          </p:nvPr>
        </p:nvSpPr>
        <p:spPr>
          <a:xfrm>
            <a:off x="4528735" y="578282"/>
            <a:ext cx="8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375" name="Google Shape;375;p42"/>
          <p:cNvSpPr txBox="1">
            <a:spLocks noGrp="1"/>
          </p:cNvSpPr>
          <p:nvPr>
            <p:ph type="subTitle" idx="9"/>
          </p:nvPr>
        </p:nvSpPr>
        <p:spPr>
          <a:xfrm>
            <a:off x="267372" y="1201277"/>
            <a:ext cx="4297852" cy="112955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/>
              <a:t>What are Laguerre functions and how they eliminate the frequency approach of LF and HF</a:t>
            </a:r>
          </a:p>
        </p:txBody>
      </p:sp>
      <p:sp>
        <p:nvSpPr>
          <p:cNvPr id="4" name="Google Shape;375;p42">
            <a:extLst>
              <a:ext uri="{FF2B5EF4-FFF2-40B4-BE49-F238E27FC236}">
                <a16:creationId xmlns:a16="http://schemas.microsoft.com/office/drawing/2014/main" id="{E2FAB647-86AB-1AFB-D477-E5A192B270D8}"/>
              </a:ext>
            </a:extLst>
          </p:cNvPr>
          <p:cNvSpPr txBox="1">
            <a:spLocks/>
          </p:cNvSpPr>
          <p:nvPr/>
        </p:nvSpPr>
        <p:spPr>
          <a:xfrm>
            <a:off x="4565224" y="1207189"/>
            <a:ext cx="4297852" cy="53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2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pPr marL="0" indent="0"/>
            <a:r>
              <a:rPr lang="en-IN" dirty="0"/>
              <a:t>Kalman Filter</a:t>
            </a:r>
          </a:p>
        </p:txBody>
      </p:sp>
      <p:sp>
        <p:nvSpPr>
          <p:cNvPr id="11" name="Google Shape;371;p42">
            <a:extLst>
              <a:ext uri="{FF2B5EF4-FFF2-40B4-BE49-F238E27FC236}">
                <a16:creationId xmlns:a16="http://schemas.microsoft.com/office/drawing/2014/main" id="{140A4EAF-EF2A-CB82-2D38-0114E2908929}"/>
              </a:ext>
            </a:extLst>
          </p:cNvPr>
          <p:cNvSpPr txBox="1">
            <a:spLocks/>
          </p:cNvSpPr>
          <p:nvPr/>
        </p:nvSpPr>
        <p:spPr>
          <a:xfrm>
            <a:off x="230883" y="2364110"/>
            <a:ext cx="8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300" b="0" i="1" u="none" strike="noStrike" cap="none">
                <a:solidFill>
                  <a:schemeClr val="dk2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r>
              <a:rPr lang="en" dirty="0"/>
              <a:t>3</a:t>
            </a:r>
          </a:p>
        </p:txBody>
      </p:sp>
      <p:sp>
        <p:nvSpPr>
          <p:cNvPr id="12" name="Google Shape;373;p42">
            <a:extLst>
              <a:ext uri="{FF2B5EF4-FFF2-40B4-BE49-F238E27FC236}">
                <a16:creationId xmlns:a16="http://schemas.microsoft.com/office/drawing/2014/main" id="{652D5216-46D0-3654-3237-661CEC50FDA0}"/>
              </a:ext>
            </a:extLst>
          </p:cNvPr>
          <p:cNvSpPr txBox="1">
            <a:spLocks/>
          </p:cNvSpPr>
          <p:nvPr/>
        </p:nvSpPr>
        <p:spPr>
          <a:xfrm>
            <a:off x="4492246" y="2359835"/>
            <a:ext cx="8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300" b="0" i="1" u="none" strike="noStrike" cap="none">
                <a:solidFill>
                  <a:schemeClr val="dk2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ZCOOL XiaoWei"/>
              <a:buNone/>
              <a:defRPr sz="30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r>
              <a:rPr lang="en" dirty="0"/>
              <a:t>4</a:t>
            </a:r>
          </a:p>
        </p:txBody>
      </p:sp>
      <p:sp>
        <p:nvSpPr>
          <p:cNvPr id="13" name="Google Shape;375;p42">
            <a:extLst>
              <a:ext uri="{FF2B5EF4-FFF2-40B4-BE49-F238E27FC236}">
                <a16:creationId xmlns:a16="http://schemas.microsoft.com/office/drawing/2014/main" id="{0A795EB7-1CB0-964D-092E-97DBF32B5235}"/>
              </a:ext>
            </a:extLst>
          </p:cNvPr>
          <p:cNvSpPr txBox="1">
            <a:spLocks/>
          </p:cNvSpPr>
          <p:nvPr/>
        </p:nvSpPr>
        <p:spPr>
          <a:xfrm>
            <a:off x="230883" y="2982830"/>
            <a:ext cx="4297852" cy="1129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2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pPr marL="0" indent="0"/>
            <a:r>
              <a:rPr lang="en-IN"/>
              <a:t>What are Laguerre functions and how they eliminate the frequency approach of LF and HF</a:t>
            </a:r>
            <a:endParaRPr lang="en-IN" dirty="0"/>
          </a:p>
        </p:txBody>
      </p:sp>
      <p:sp>
        <p:nvSpPr>
          <p:cNvPr id="14" name="Google Shape;375;p42">
            <a:extLst>
              <a:ext uri="{FF2B5EF4-FFF2-40B4-BE49-F238E27FC236}">
                <a16:creationId xmlns:a16="http://schemas.microsoft.com/office/drawing/2014/main" id="{9309F145-7794-6D3A-ECCA-79F05A28E9EA}"/>
              </a:ext>
            </a:extLst>
          </p:cNvPr>
          <p:cNvSpPr txBox="1">
            <a:spLocks/>
          </p:cNvSpPr>
          <p:nvPr/>
        </p:nvSpPr>
        <p:spPr>
          <a:xfrm>
            <a:off x="4528735" y="2988742"/>
            <a:ext cx="4297852" cy="53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2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ZCOOL XiaoWei"/>
              <a:buNone/>
              <a:defRPr sz="2400" b="0" i="0" u="none" strike="noStrike" cap="none">
                <a:solidFill>
                  <a:schemeClr val="dk1"/>
                </a:solidFill>
                <a:latin typeface="ZCOOL XiaoWei"/>
                <a:ea typeface="ZCOOL XiaoWei"/>
                <a:cs typeface="ZCOOL XiaoWei"/>
                <a:sym typeface="ZCOOL XiaoWei"/>
              </a:defRPr>
            </a:lvl9pPr>
          </a:lstStyle>
          <a:p>
            <a:pPr marL="0" indent="0"/>
            <a:r>
              <a:rPr lang="en-IN" dirty="0"/>
              <a:t>Kalman Filter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" grpId="0"/>
      <p:bldP spid="373" grpId="0"/>
      <p:bldP spid="375" grpId="0" build="allAtOnce"/>
      <p:bldP spid="4" grpId="0" build="allAtOnce"/>
      <p:bldP spid="11" grpId="0"/>
      <p:bldP spid="12" grpId="0"/>
      <p:bldP spid="13" grpId="0" build="allAtOnce"/>
      <p:bldP spid="14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6"/>
          <p:cNvSpPr txBox="1"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Laguerre Functions</a:t>
            </a:r>
            <a:endParaRPr dirty="0"/>
          </a:p>
        </p:txBody>
      </p:sp>
      <p:sp>
        <p:nvSpPr>
          <p:cNvPr id="9" name="AutoShape 4" descr="Output image">
            <a:extLst>
              <a:ext uri="{FF2B5EF4-FFF2-40B4-BE49-F238E27FC236}">
                <a16:creationId xmlns:a16="http://schemas.microsoft.com/office/drawing/2014/main" id="{6992531E-B983-549A-90CD-768985664F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0" y="769938"/>
            <a:ext cx="9144000" cy="360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18ABF9-656D-01B8-A695-930D61BAC84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0124" y="964441"/>
            <a:ext cx="8737503" cy="34437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5BFC61-5CF6-1B15-84A0-20930D0A0DE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083" y="683661"/>
            <a:ext cx="8640000" cy="42785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7B94123-28BD-17BA-8F50-B915E403CC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77" t="14296" r="3242" b="7485"/>
          <a:stretch>
            <a:fillRect/>
          </a:stretch>
        </p:blipFill>
        <p:spPr>
          <a:xfrm>
            <a:off x="982639" y="735272"/>
            <a:ext cx="7196919" cy="40232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7BCEFE-5A7A-8EBC-DDD7-A6FFCB8130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9" t="11764" r="2652" b="5096"/>
          <a:stretch>
            <a:fillRect/>
          </a:stretch>
        </p:blipFill>
        <p:spPr>
          <a:xfrm>
            <a:off x="923498" y="433600"/>
            <a:ext cx="7297004" cy="427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26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3"/>
          <p:cNvSpPr txBox="1">
            <a:spLocks noGrp="1"/>
          </p:cNvSpPr>
          <p:nvPr>
            <p:ph type="title"/>
          </p:nvPr>
        </p:nvSpPr>
        <p:spPr>
          <a:xfrm>
            <a:off x="647944" y="914584"/>
            <a:ext cx="3408854" cy="9790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/>
              <a:t>Thank you</a:t>
            </a:r>
            <a:endParaRPr sz="5000" dirty="0"/>
          </a:p>
        </p:txBody>
      </p:sp>
      <p:sp>
        <p:nvSpPr>
          <p:cNvPr id="384" name="Google Shape;384;p43"/>
          <p:cNvSpPr txBox="1">
            <a:spLocks noGrp="1"/>
          </p:cNvSpPr>
          <p:nvPr>
            <p:ph type="subTitle" idx="1"/>
          </p:nvPr>
        </p:nvSpPr>
        <p:spPr>
          <a:xfrm>
            <a:off x="297652" y="1824613"/>
            <a:ext cx="5264948" cy="6910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rahul.nimhans@gmail.com</a:t>
            </a:r>
            <a:endParaRPr sz="3200" dirty="0"/>
          </a:p>
        </p:txBody>
      </p:sp>
      <p:pic>
        <p:nvPicPr>
          <p:cNvPr id="2" name="Picture 1" descr="A screenshot of a qr code&#10;&#10;AI-generated content may be incorrect.">
            <a:extLst>
              <a:ext uri="{FF2B5EF4-FFF2-40B4-BE49-F238E27FC236}">
                <a16:creationId xmlns:a16="http://schemas.microsoft.com/office/drawing/2014/main" id="{71184C73-A725-364D-1FDA-1DF6A830432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EDE9E3">
                <a:tint val="45000"/>
                <a:satMod val="400000"/>
              </a:srgbClr>
            </a:duotone>
          </a:blip>
          <a:srcRect l="14240" t="3016" r="15398" b="7068"/>
          <a:stretch>
            <a:fillRect/>
          </a:stretch>
        </p:blipFill>
        <p:spPr>
          <a:xfrm>
            <a:off x="5087204" y="279042"/>
            <a:ext cx="2929102" cy="3848987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cient Chinese Characters by Slidesgo">
  <a:themeElements>
    <a:clrScheme name="Simple Light">
      <a:dk1>
        <a:srgbClr val="2D2323"/>
      </a:dk1>
      <a:lt1>
        <a:srgbClr val="FFF4E2"/>
      </a:lt1>
      <a:dk2>
        <a:srgbClr val="DB211D"/>
      </a:dk2>
      <a:lt2>
        <a:srgbClr val="4C4C4C"/>
      </a:lt2>
      <a:accent1>
        <a:srgbClr val="CFCFC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D232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170</Words>
  <Application>Microsoft Office PowerPoint</Application>
  <PresentationFormat>On-screen Show (16:9)</PresentationFormat>
  <Paragraphs>26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Barlow Medium</vt:lpstr>
      <vt:lpstr>Arial</vt:lpstr>
      <vt:lpstr>ZCOOL XiaoWei</vt:lpstr>
      <vt:lpstr>Anaheim</vt:lpstr>
      <vt:lpstr>Ancient Chinese Characters by Slidesgo</vt:lpstr>
      <vt:lpstr>Brain Heart Models</vt:lpstr>
      <vt:lpstr>Outline</vt:lpstr>
      <vt:lpstr>Laguerre Functions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Ancient Chinese Characters</dc:title>
  <cp:lastModifiedBy>rahul.nimhans@outlook.com</cp:lastModifiedBy>
  <cp:revision>50</cp:revision>
  <dcterms:modified xsi:type="dcterms:W3CDTF">2026-01-11T18:06:24Z</dcterms:modified>
</cp:coreProperties>
</file>