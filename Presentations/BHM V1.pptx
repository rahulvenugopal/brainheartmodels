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4"/>
  </p:notesMasterIdLst>
  <p:sldIdLst>
    <p:sldId id="258" r:id="rId2"/>
    <p:sldId id="276" r:id="rId3"/>
    <p:sldId id="262" r:id="rId4"/>
    <p:sldId id="263" r:id="rId5"/>
    <p:sldId id="265" r:id="rId6"/>
    <p:sldId id="264" r:id="rId7"/>
    <p:sldId id="266" r:id="rId8"/>
    <p:sldId id="275" r:id="rId9"/>
    <p:sldId id="272" r:id="rId10"/>
    <p:sldId id="271" r:id="rId11"/>
    <p:sldId id="269" r:id="rId12"/>
    <p:sldId id="268" r:id="rId13"/>
  </p:sldIdLst>
  <p:sldSz cx="9144000" cy="5143500" type="screen16x9"/>
  <p:notesSz cx="6858000" cy="9144000"/>
  <p:embeddedFontLst>
    <p:embeddedFont>
      <p:font typeface="Barlow Medium" panose="00000600000000000000" pitchFamily="2" charset="0"/>
      <p:regular r:id="rId15"/>
      <p:bold r:id="rId16"/>
      <p:italic r:id="rId17"/>
      <p:boldItalic r:id="rId18"/>
    </p:embeddedFont>
    <p:embeddedFont>
      <p:font typeface="ZCOOL XiaoWei" panose="00000500000000000000" pitchFamily="2" charset="0"/>
      <p:regular r:id="rId19"/>
    </p:embeddedFont>
    <p:embeddedFont>
      <p:font typeface="Anaheim" panose="020B0604020202020204" charset="0"/>
      <p:regular r:id="rId20"/>
      <p:bold r:id="rId21"/>
    </p:embeddedFont>
    <p:embeddedFont>
      <p:font typeface="Inter" panose="02000503000000020004" pitchFamily="2" charset="0"/>
      <p:regular r:id="rId22"/>
      <p:bold r:id="rId23"/>
    </p:embeddedFont>
    <p:embeddedFont>
      <p:font typeface="Cambria Math" panose="02040503050406030204" pitchFamily="18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452"/>
    <a:srgbClr val="C8E299"/>
    <a:srgbClr val="FFDA71"/>
    <a:srgbClr val="FFE7A9"/>
    <a:srgbClr val="E4EBBD"/>
    <a:srgbClr val="377953"/>
    <a:srgbClr val="F6EBA8"/>
    <a:srgbClr val="000000"/>
    <a:srgbClr val="F15370"/>
    <a:srgbClr val="ABB0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2EEEF8-D99D-4004-B7BB-F8C6E5456D95}">
  <a:tblStyle styleId="{642EEEF8-D99D-4004-B7BB-F8C6E5456D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93" autoAdjust="0"/>
    <p:restoredTop sz="94915" autoAdjust="0"/>
  </p:normalViewPr>
  <p:slideViewPr>
    <p:cSldViewPr snapToGrid="0" showGuides="1">
      <p:cViewPr varScale="1">
        <p:scale>
          <a:sx n="163" d="100"/>
          <a:sy n="163" d="100"/>
        </p:scale>
        <p:origin x="693" y="8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Google Shape;411;g14072739ea5_12_0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each Laguerre function corresponds to a </a:t>
                </a:r>
                <a:r>
                  <a:rPr lang="en-US" sz="800" b="1" dirty="0"/>
                  <a:t>family of frequencies weighted over time</a:t>
                </a:r>
                <a:r>
                  <a:rPr lang="en-US" sz="800" dirty="0"/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Low-order Laguerre → low-pass, tonic behavior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Very high order → increasingly oscillatory but still causal and decaying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Laguerre expansions encode </a:t>
                </a:r>
                <a:r>
                  <a:rPr lang="en-IN" sz="800" b="1" dirty="0"/>
                  <a:t>temporal structure</a:t>
                </a:r>
                <a:r>
                  <a:rPr lang="en-IN" sz="800" dirty="0"/>
                  <a:t>, not explicit frequency bins.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“How does the </a:t>
                </a:r>
                <a:r>
                  <a:rPr lang="en-US" sz="800" b="1" dirty="0"/>
                  <a:t>recent past over multiple time scales</a:t>
                </a:r>
                <a:r>
                  <a:rPr lang="en-US" sz="800" dirty="0"/>
                  <a:t> influence the present?”</a:t>
                </a:r>
              </a:p>
              <a:p>
                <a:r>
                  <a:rPr lang="en-US" sz="800" dirty="0"/>
                  <a:t>a≈0: very short memory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𝑎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≈1</m:t>
                    </m:r>
                  </m:oMath>
                </a14:m>
                <a:r>
                  <a:rPr lang="en-US" sz="800" dirty="0"/>
                  <a:t>: very long memory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memory length≈1/1-a</a:t>
                </a:r>
              </a:p>
              <a:p>
                <a:r>
                  <a:rPr lang="en-US" sz="800" dirty="0"/>
                  <a:t>M=1: single low-pass memory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𝑀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=3</m:t>
                    </m:r>
                  </m:oMath>
                </a14:m>
                <a:r>
                  <a:rPr lang="en-US" sz="800" dirty="0"/>
                  <a:t>: baseline + trend + curvature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𝑀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=9</m:t>
                    </m:r>
                  </m:oMath>
                </a14:m>
                <a:r>
                  <a:rPr lang="en-US" sz="800" dirty="0"/>
                  <a:t>: multiple oscillatory memory channels (typical in autonomic modeling)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​</a:t>
                </a:r>
                <a:endParaRPr sz="800" dirty="0"/>
              </a:p>
            </p:txBody>
          </p:sp>
        </mc:Choice>
        <mc:Fallback xmlns="">
          <p:sp>
            <p:nvSpPr>
              <p:cNvPr id="411" name="Google Shape;411;g14072739ea5_12_0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each Laguerre function corresponds to a </a:t>
                </a:r>
                <a:r>
                  <a:rPr lang="en-US" sz="800" b="1" dirty="0"/>
                  <a:t>family of frequencies weighted over time</a:t>
                </a:r>
                <a:r>
                  <a:rPr lang="en-US" sz="800" dirty="0"/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Low-order Laguerre → low-pass, tonic behavior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Very high order → increasingly oscillatory but still causal and decaying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Laguerre expansions encode </a:t>
                </a:r>
                <a:r>
                  <a:rPr lang="en-IN" sz="800" b="1" dirty="0"/>
                  <a:t>temporal structure</a:t>
                </a:r>
                <a:r>
                  <a:rPr lang="en-IN" sz="800" dirty="0"/>
                  <a:t>, not explicit frequency bins.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“How does the </a:t>
                </a:r>
                <a:r>
                  <a:rPr lang="en-US" sz="800" b="1" dirty="0"/>
                  <a:t>recent past over multiple time scales</a:t>
                </a:r>
                <a:r>
                  <a:rPr lang="en-US" sz="800" dirty="0"/>
                  <a:t> influence the present?”</a:t>
                </a:r>
              </a:p>
              <a:p>
                <a:r>
                  <a:rPr lang="en-US" sz="800" dirty="0"/>
                  <a:t>a≈0: very short memory</a:t>
                </a:r>
              </a:p>
              <a:p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𝑎≈1</a:t>
                </a:r>
                <a:r>
                  <a:rPr lang="en-US" sz="800" dirty="0"/>
                  <a:t>: very long memory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memory length≈1/1-a</a:t>
                </a:r>
              </a:p>
              <a:p>
                <a:r>
                  <a:rPr lang="en-US" sz="800" dirty="0"/>
                  <a:t>M=1: single low-pass memory</a:t>
                </a:r>
              </a:p>
              <a:p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𝑀=3</a:t>
                </a:r>
                <a:r>
                  <a:rPr lang="en-US" sz="800" dirty="0"/>
                  <a:t>: baseline + trend + curvature</a:t>
                </a:r>
              </a:p>
              <a:p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𝑀=9</a:t>
                </a:r>
                <a:r>
                  <a:rPr lang="en-US" sz="800" dirty="0"/>
                  <a:t>: multiple oscillatory memory channels (typical in autonomic modeling)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​</a:t>
                </a:r>
                <a:endParaRPr sz="800" dirty="0"/>
              </a:p>
            </p:txBody>
          </p:sp>
        </mc:Fallback>
      </mc:AlternateContent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 smtClean="0"/>
              <a:t>Alpha parameter and M parameters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2247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Explain small and large RR intervals and the impact on Sai and PAI</a:t>
            </a:r>
          </a:p>
        </p:txBody>
      </p:sp>
    </p:spTree>
    <p:extLst>
      <p:ext uri="{BB962C8B-B14F-4D97-AF65-F5344CB8AC3E}">
        <p14:creationId xmlns:p14="http://schemas.microsoft.com/office/powerpoint/2010/main" val="331957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744976" y="-685582"/>
            <a:ext cx="1131825" cy="12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437550" y="3106903"/>
            <a:ext cx="804000" cy="164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28845"/>
          <a:stretch/>
        </p:blipFill>
        <p:spPr>
          <a:xfrm flipH="1">
            <a:off x="0" y="3906747"/>
            <a:ext cx="1777300" cy="12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4748" y="4481174"/>
            <a:ext cx="892060" cy="6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057" y="184746"/>
            <a:ext cx="557734" cy="33970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3988" y="2066101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"/>
          </p:nvPr>
        </p:nvSpPr>
        <p:spPr>
          <a:xfrm>
            <a:off x="5382782" y="2066101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3"/>
          </p:nvPr>
        </p:nvSpPr>
        <p:spPr>
          <a:xfrm>
            <a:off x="1523988" y="3566750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5382782" y="3566750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790500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6" hasCustomPrompt="1"/>
          </p:nvPr>
        </p:nvSpPr>
        <p:spPr>
          <a:xfrm>
            <a:off x="719998" y="3291149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7" hasCustomPrompt="1"/>
          </p:nvPr>
        </p:nvSpPr>
        <p:spPr>
          <a:xfrm>
            <a:off x="4578777" y="1790500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8" hasCustomPrompt="1"/>
          </p:nvPr>
        </p:nvSpPr>
        <p:spPr>
          <a:xfrm>
            <a:off x="4578777" y="3291149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9"/>
          </p:nvPr>
        </p:nvSpPr>
        <p:spPr>
          <a:xfrm>
            <a:off x="1523988" y="1479706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3"/>
          </p:nvPr>
        </p:nvSpPr>
        <p:spPr>
          <a:xfrm>
            <a:off x="5382786" y="1479706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4"/>
          </p:nvPr>
        </p:nvSpPr>
        <p:spPr>
          <a:xfrm>
            <a:off x="1523988" y="2980527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5"/>
          </p:nvPr>
        </p:nvSpPr>
        <p:spPr>
          <a:xfrm>
            <a:off x="5382786" y="2980527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3100" y="4359102"/>
            <a:ext cx="1475800" cy="9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756" y="4103196"/>
            <a:ext cx="1777244" cy="1134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00" y="104700"/>
            <a:ext cx="1015275" cy="4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1"/>
          </p:nvPr>
        </p:nvSpPr>
        <p:spPr>
          <a:xfrm>
            <a:off x="824850" y="3071025"/>
            <a:ext cx="74943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2"/>
          </p:nvPr>
        </p:nvSpPr>
        <p:spPr>
          <a:xfrm>
            <a:off x="824850" y="1518050"/>
            <a:ext cx="74943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422381" y="3865926"/>
            <a:ext cx="1790575" cy="12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6750" y="3781032"/>
            <a:ext cx="2004564" cy="13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8954" y="95651"/>
            <a:ext cx="1030450" cy="627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-663510" y="2549936"/>
            <a:ext cx="1867475" cy="19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2577" y="2184900"/>
            <a:ext cx="1188625" cy="207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5"/>
          <p:cNvPicPr preferRelativeResize="0"/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flipH="1">
            <a:off x="7651878" y="-664607"/>
            <a:ext cx="1131825" cy="12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329928" y="4345591"/>
            <a:ext cx="2484149" cy="7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6"/>
          <p:cNvPicPr preferRelativeResize="0"/>
          <p:nvPr/>
        </p:nvPicPr>
        <p:blipFill rotWithShape="1">
          <a:blip r:embed="rId3">
            <a:alphaModFix/>
          </a:blip>
          <a:srcRect r="10378"/>
          <a:stretch/>
        </p:blipFill>
        <p:spPr>
          <a:xfrm flipH="1">
            <a:off x="-30123" y="2343950"/>
            <a:ext cx="1649642" cy="284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911417" y="4118467"/>
            <a:ext cx="404611" cy="97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5691" y="4603998"/>
            <a:ext cx="634763" cy="4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3974" y="3464550"/>
            <a:ext cx="2410024" cy="17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-30125" y="4021811"/>
            <a:ext cx="2553000" cy="114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 flipH="1">
            <a:off x="267200" y="-685571"/>
            <a:ext cx="1841475" cy="20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267215" y="730451"/>
            <a:ext cx="907431" cy="552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ZCOOL XiaoWei"/>
              <a:buNone/>
              <a:defRPr sz="33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70" r:id="rId2"/>
    <p:sldLayoutId id="2147483681" r:id="rId3"/>
    <p:sldLayoutId id="214748368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>
            <a:spLocks noGrp="1"/>
          </p:cNvSpPr>
          <p:nvPr>
            <p:ph type="title"/>
          </p:nvPr>
        </p:nvSpPr>
        <p:spPr>
          <a:xfrm>
            <a:off x="2423074" y="-23419"/>
            <a:ext cx="42978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</a:t>
            </a:r>
            <a:endParaRPr dirty="0"/>
          </a:p>
        </p:txBody>
      </p:sp>
      <p:sp>
        <p:nvSpPr>
          <p:cNvPr id="371" name="Google Shape;371;p42"/>
          <p:cNvSpPr txBox="1">
            <a:spLocks noGrp="1"/>
          </p:cNvSpPr>
          <p:nvPr>
            <p:ph type="title" idx="5"/>
          </p:nvPr>
        </p:nvSpPr>
        <p:spPr>
          <a:xfrm>
            <a:off x="267372" y="582557"/>
            <a:ext cx="8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73" name="Google Shape;373;p42"/>
          <p:cNvSpPr txBox="1">
            <a:spLocks noGrp="1"/>
          </p:cNvSpPr>
          <p:nvPr>
            <p:ph type="title" idx="7"/>
          </p:nvPr>
        </p:nvSpPr>
        <p:spPr>
          <a:xfrm>
            <a:off x="4528735" y="578282"/>
            <a:ext cx="8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75" name="Google Shape;375;p42"/>
          <p:cNvSpPr txBox="1">
            <a:spLocks noGrp="1"/>
          </p:cNvSpPr>
          <p:nvPr>
            <p:ph type="subTitle" idx="9"/>
          </p:nvPr>
        </p:nvSpPr>
        <p:spPr>
          <a:xfrm>
            <a:off x="267372" y="3268369"/>
            <a:ext cx="4297852" cy="11295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What are Laguerre functions and how they eliminate the frequency approach of LF and </a:t>
            </a:r>
            <a:r>
              <a:rPr lang="en-IN" dirty="0" smtClean="0"/>
              <a:t>HF</a:t>
            </a:r>
            <a:br>
              <a:rPr lang="en-IN" dirty="0" smtClean="0"/>
            </a:br>
            <a:r>
              <a:rPr lang="en-IN" dirty="0" smtClean="0"/>
              <a:t>			SAI &amp; PAI</a:t>
            </a:r>
            <a:endParaRPr lang="en-IN" dirty="0"/>
          </a:p>
        </p:txBody>
      </p:sp>
      <p:sp>
        <p:nvSpPr>
          <p:cNvPr id="4" name="Google Shape;375;p42">
            <a:extLst>
              <a:ext uri="{FF2B5EF4-FFF2-40B4-BE49-F238E27FC236}">
                <a16:creationId xmlns:a16="http://schemas.microsoft.com/office/drawing/2014/main" id="{E2FAB647-86AB-1AFB-D477-E5A192B270D8}"/>
              </a:ext>
            </a:extLst>
          </p:cNvPr>
          <p:cNvSpPr txBox="1">
            <a:spLocks/>
          </p:cNvSpPr>
          <p:nvPr/>
        </p:nvSpPr>
        <p:spPr>
          <a:xfrm>
            <a:off x="4492246" y="2932535"/>
            <a:ext cx="4297852" cy="53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2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pPr marL="0" indent="0"/>
            <a:r>
              <a:rPr lang="en-IN" dirty="0"/>
              <a:t>IPFM Model</a:t>
            </a:r>
            <a:endParaRPr lang="en-IN" dirty="0"/>
          </a:p>
        </p:txBody>
      </p:sp>
      <p:sp>
        <p:nvSpPr>
          <p:cNvPr id="11" name="Google Shape;371;p42">
            <a:extLst>
              <a:ext uri="{FF2B5EF4-FFF2-40B4-BE49-F238E27FC236}">
                <a16:creationId xmlns:a16="http://schemas.microsoft.com/office/drawing/2014/main" id="{140A4EAF-EF2A-CB82-2D38-0114E2908929}"/>
              </a:ext>
            </a:extLst>
          </p:cNvPr>
          <p:cNvSpPr txBox="1">
            <a:spLocks/>
          </p:cNvSpPr>
          <p:nvPr/>
        </p:nvSpPr>
        <p:spPr>
          <a:xfrm>
            <a:off x="230883" y="2364110"/>
            <a:ext cx="8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300" b="0" i="1" u="none" strike="noStrike" cap="none">
                <a:solidFill>
                  <a:schemeClr val="dk2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rPr lang="en" dirty="0"/>
              <a:t>3</a:t>
            </a:r>
          </a:p>
        </p:txBody>
      </p:sp>
      <p:sp>
        <p:nvSpPr>
          <p:cNvPr id="12" name="Google Shape;373;p42">
            <a:extLst>
              <a:ext uri="{FF2B5EF4-FFF2-40B4-BE49-F238E27FC236}">
                <a16:creationId xmlns:a16="http://schemas.microsoft.com/office/drawing/2014/main" id="{652D5216-46D0-3654-3237-661CEC50FDA0}"/>
              </a:ext>
            </a:extLst>
          </p:cNvPr>
          <p:cNvSpPr txBox="1">
            <a:spLocks/>
          </p:cNvSpPr>
          <p:nvPr/>
        </p:nvSpPr>
        <p:spPr>
          <a:xfrm>
            <a:off x="4492246" y="2359835"/>
            <a:ext cx="8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300" b="0" i="1" u="none" strike="noStrike" cap="none">
                <a:solidFill>
                  <a:schemeClr val="dk2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rPr lang="en" dirty="0"/>
              <a:t>4</a:t>
            </a:r>
          </a:p>
        </p:txBody>
      </p:sp>
      <p:sp>
        <p:nvSpPr>
          <p:cNvPr id="13" name="Google Shape;375;p42">
            <a:extLst>
              <a:ext uri="{FF2B5EF4-FFF2-40B4-BE49-F238E27FC236}">
                <a16:creationId xmlns:a16="http://schemas.microsoft.com/office/drawing/2014/main" id="{0A795EB7-1CB0-964D-092E-97DBF32B5235}"/>
              </a:ext>
            </a:extLst>
          </p:cNvPr>
          <p:cNvSpPr txBox="1">
            <a:spLocks/>
          </p:cNvSpPr>
          <p:nvPr/>
        </p:nvSpPr>
        <p:spPr>
          <a:xfrm>
            <a:off x="230883" y="1277602"/>
            <a:ext cx="4297852" cy="464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2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pPr marL="0" indent="0"/>
            <a:r>
              <a:rPr lang="en-IN" dirty="0" smtClean="0"/>
              <a:t>Poincare Plot</a:t>
            </a:r>
            <a:endParaRPr lang="en-IN" dirty="0"/>
          </a:p>
        </p:txBody>
      </p:sp>
      <p:sp>
        <p:nvSpPr>
          <p:cNvPr id="15" name="Google Shape;375;p42">
            <a:extLst>
              <a:ext uri="{FF2B5EF4-FFF2-40B4-BE49-F238E27FC236}">
                <a16:creationId xmlns:a16="http://schemas.microsoft.com/office/drawing/2014/main" id="{E2FAB647-86AB-1AFB-D477-E5A192B270D8}"/>
              </a:ext>
            </a:extLst>
          </p:cNvPr>
          <p:cNvSpPr txBox="1">
            <a:spLocks/>
          </p:cNvSpPr>
          <p:nvPr/>
        </p:nvSpPr>
        <p:spPr>
          <a:xfrm>
            <a:off x="4528735" y="1205732"/>
            <a:ext cx="4297852" cy="53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2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pPr marL="0" indent="0"/>
            <a:r>
              <a:rPr lang="en-IN" dirty="0" smtClean="0"/>
              <a:t>Robust indices - CSI &amp; CPI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" grpId="0"/>
      <p:bldP spid="373" grpId="0"/>
      <p:bldP spid="375" grpId="0" build="allAtOnce"/>
      <p:bldP spid="4" grpId="0" build="allAtOnce"/>
      <p:bldP spid="11" grpId="0"/>
      <p:bldP spid="12" grpId="0"/>
      <p:bldP spid="13" grpId="0" build="allAtOnce"/>
      <p:bldP spid="15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0383" y="417291"/>
            <a:ext cx="6620256" cy="43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Laguerre Functions</a:t>
            </a:r>
            <a:endParaRPr dirty="0"/>
          </a:p>
        </p:txBody>
      </p:sp>
      <p:sp>
        <p:nvSpPr>
          <p:cNvPr id="9" name="AutoShape 4" descr="Output image">
            <a:extLst>
              <a:ext uri="{FF2B5EF4-FFF2-40B4-BE49-F238E27FC236}">
                <a16:creationId xmlns:a16="http://schemas.microsoft.com/office/drawing/2014/main" id="{6992531E-B983-549A-90CD-768985664F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769938"/>
            <a:ext cx="9144000" cy="360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18ABF9-656D-01B8-A695-930D61BAC84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124" y="964441"/>
            <a:ext cx="8737503" cy="34437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5BFC61-5CF6-1B15-84A0-20930D0A0DE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083" y="683661"/>
            <a:ext cx="8640000" cy="42785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B94123-28BD-17BA-8F50-B915E403CC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77" t="14296" r="3242" b="7485"/>
          <a:stretch>
            <a:fillRect/>
          </a:stretch>
        </p:blipFill>
        <p:spPr>
          <a:xfrm>
            <a:off x="982639" y="735272"/>
            <a:ext cx="7196919" cy="40232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7BCEFE-5A7A-8EBC-DDD7-A6FFCB813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9" t="11764" r="2652" b="5096"/>
          <a:stretch>
            <a:fillRect/>
          </a:stretch>
        </p:blipFill>
        <p:spPr>
          <a:xfrm>
            <a:off x="923498" y="433600"/>
            <a:ext cx="7297004" cy="42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2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097D4D-EAD5-2418-CEB7-8EB7F676E02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7756" y="465337"/>
            <a:ext cx="7328452" cy="1947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9E6197-8A35-1AE7-E9C4-2CC5AFC8590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54783" y="3063405"/>
            <a:ext cx="5230189" cy="156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7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6638C0-CCC6-027A-28BD-3EBA23CA8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5" t="10047" r="2364" b="4842"/>
          <a:stretch>
            <a:fillRect/>
          </a:stretch>
        </p:blipFill>
        <p:spPr>
          <a:xfrm>
            <a:off x="954156" y="348974"/>
            <a:ext cx="7434471" cy="43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7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94C014-CA35-0DC0-D783-5B36B2F5E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32" y="643944"/>
            <a:ext cx="7699056" cy="396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35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E86E-9967-9C72-31C0-EE31A55F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3;p46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Standard IPFM Model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675" y="704920"/>
            <a:ext cx="2547020" cy="18354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719" y="704920"/>
            <a:ext cx="2626823" cy="1855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265" y="704920"/>
            <a:ext cx="2192161" cy="18321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675" y="2643446"/>
            <a:ext cx="2320914" cy="182215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8663" y="2600221"/>
            <a:ext cx="2876204" cy="15029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265" y="2616846"/>
            <a:ext cx="2192161" cy="188532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675" y="4558700"/>
            <a:ext cx="7332752" cy="21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6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E86E-9967-9C72-31C0-EE31A55F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3;p46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Standard IPFM Model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97527" y="793323"/>
            <a:ext cx="719882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The standard IPFM model treats heartbeats as </a:t>
            </a:r>
            <a:r>
              <a:rPr lang="en-US" b="1" dirty="0">
                <a:solidFill>
                  <a:srgbClr val="FF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threshold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crossings of a pacemaker whose speed is modulated by </a:t>
            </a:r>
            <a:r>
              <a:rPr lang="en-US" dirty="0">
                <a:solidFill>
                  <a:srgbClr val="FF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two fixed-frequency oscillators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representing </a:t>
            </a:r>
            <a:r>
              <a:rPr lang="en-US" dirty="0">
                <a:solidFill>
                  <a:srgbClr val="FF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sympathetic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and </a:t>
            </a:r>
            <a:r>
              <a:rPr lang="en-US" b="1" dirty="0">
                <a:solidFill>
                  <a:srgbClr val="377953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parasympathetic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rhythms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dirty="0" smtClean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The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strengths of these oscillators vary slowly over time and are estimated from the geometry of the 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</a:rPr>
              <a:t>Poincaré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plot, anchoring the model firmly in the HRV spectral paradigm. It is physiologically interpretable but fundamentally frequency-based and limited under strong 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</a:rPr>
              <a:t>nonstationarity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IN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3383" y="3691602"/>
            <a:ext cx="7115862" cy="86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9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E86E-9967-9C72-31C0-EE31A55F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3;p46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Standard IPFM Model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4640" y="1115923"/>
            <a:ext cx="8263614" cy="2050873"/>
          </a:xfrm>
          <a:prstGeom prst="rect">
            <a:avLst/>
          </a:prstGeom>
        </p:spPr>
      </p:pic>
      <p:sp>
        <p:nvSpPr>
          <p:cNvPr id="5" name="Cloud 4"/>
          <p:cNvSpPr/>
          <p:nvPr/>
        </p:nvSpPr>
        <p:spPr>
          <a:xfrm>
            <a:off x="7843520" y="1745673"/>
            <a:ext cx="465882" cy="418407"/>
          </a:xfrm>
          <a:prstGeom prst="cloud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377953"/>
              </a:solidFill>
              <a:effectLst>
                <a:glow rad="101600">
                  <a:srgbClr val="00B050">
                    <a:alpha val="60000"/>
                  </a:srgbClr>
                </a:glow>
              </a:effectLst>
            </a:endParaRPr>
          </a:p>
        </p:txBody>
      </p:sp>
      <p:sp>
        <p:nvSpPr>
          <p:cNvPr id="6" name="Cloud 5"/>
          <p:cNvSpPr/>
          <p:nvPr/>
        </p:nvSpPr>
        <p:spPr>
          <a:xfrm>
            <a:off x="647469" y="1745672"/>
            <a:ext cx="465882" cy="418407"/>
          </a:xfrm>
          <a:prstGeom prst="cloud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377953"/>
              </a:solidFill>
              <a:effectLst>
                <a:glow rad="101600">
                  <a:srgbClr val="00B050">
                    <a:alpha val="60000"/>
                  </a:srgbClr>
                </a:glow>
              </a:effectLst>
            </a:endParaRPr>
          </a:p>
        </p:txBody>
      </p:sp>
      <p:sp>
        <p:nvSpPr>
          <p:cNvPr id="7" name="Cloud 6"/>
          <p:cNvSpPr/>
          <p:nvPr/>
        </p:nvSpPr>
        <p:spPr>
          <a:xfrm>
            <a:off x="7843520" y="2153343"/>
            <a:ext cx="465882" cy="418407"/>
          </a:xfrm>
          <a:prstGeom prst="cloud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377953"/>
              </a:solidFill>
              <a:effectLst>
                <a:glow rad="101600">
                  <a:srgbClr val="00B050">
                    <a:alpha val="60000"/>
                  </a:srgbClr>
                </a:glow>
              </a:effectLst>
            </a:endParaRPr>
          </a:p>
        </p:txBody>
      </p:sp>
      <p:sp>
        <p:nvSpPr>
          <p:cNvPr id="8" name="Cloud 7"/>
          <p:cNvSpPr/>
          <p:nvPr/>
        </p:nvSpPr>
        <p:spPr>
          <a:xfrm>
            <a:off x="615650" y="2153342"/>
            <a:ext cx="465882" cy="418407"/>
          </a:xfrm>
          <a:prstGeom prst="cloud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377953"/>
              </a:solidFill>
              <a:effectLst>
                <a:glow rad="101600">
                  <a:srgbClr val="00B050">
                    <a:alpha val="60000"/>
                  </a:srgbClr>
                </a:glow>
              </a:effectLst>
            </a:endParaRPr>
          </a:p>
        </p:txBody>
      </p:sp>
      <p:sp>
        <p:nvSpPr>
          <p:cNvPr id="9" name="Cloud 8"/>
          <p:cNvSpPr/>
          <p:nvPr/>
        </p:nvSpPr>
        <p:spPr>
          <a:xfrm>
            <a:off x="6281405" y="1290391"/>
            <a:ext cx="465882" cy="418407"/>
          </a:xfrm>
          <a:prstGeom prst="cloud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377953"/>
              </a:solidFill>
              <a:effectLst>
                <a:glow rad="101600">
                  <a:srgbClr val="00B050">
                    <a:alpha val="60000"/>
                  </a:srgbClr>
                </a:glow>
              </a:effectLst>
            </a:endParaRPr>
          </a:p>
        </p:txBody>
      </p:sp>
      <p:sp>
        <p:nvSpPr>
          <p:cNvPr id="10" name="Cloud 9"/>
          <p:cNvSpPr/>
          <p:nvPr/>
        </p:nvSpPr>
        <p:spPr>
          <a:xfrm>
            <a:off x="6201368" y="2210529"/>
            <a:ext cx="465882" cy="418407"/>
          </a:xfrm>
          <a:prstGeom prst="cloud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377953"/>
              </a:solidFill>
              <a:effectLst>
                <a:glow rad="101600">
                  <a:srgbClr val="00B050">
                    <a:alpha val="60000"/>
                  </a:srgbClr>
                </a:glow>
              </a:effectLst>
            </a:endParaRPr>
          </a:p>
        </p:txBody>
      </p:sp>
      <p:sp>
        <p:nvSpPr>
          <p:cNvPr id="16" name="Cloud 15"/>
          <p:cNvSpPr/>
          <p:nvPr/>
        </p:nvSpPr>
        <p:spPr>
          <a:xfrm>
            <a:off x="2274361" y="1089579"/>
            <a:ext cx="2879529" cy="1048156"/>
          </a:xfrm>
          <a:prstGeom prst="cloud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377953"/>
              </a:solidFill>
              <a:effectLst>
                <a:glow rad="101600">
                  <a:srgbClr val="00B050">
                    <a:alpha val="60000"/>
                  </a:srgbClr>
                </a:glow>
              </a:effectLst>
            </a:endParaRPr>
          </a:p>
        </p:txBody>
      </p:sp>
      <p:cxnSp>
        <p:nvCxnSpPr>
          <p:cNvPr id="20" name="Curved Connector 19"/>
          <p:cNvCxnSpPr/>
          <p:nvPr/>
        </p:nvCxnSpPr>
        <p:spPr>
          <a:xfrm flipV="1">
            <a:off x="6514346" y="788659"/>
            <a:ext cx="561447" cy="451602"/>
          </a:xfrm>
          <a:prstGeom prst="curvedConnector3">
            <a:avLst>
              <a:gd name="adj1" fmla="val 47631"/>
            </a:avLst>
          </a:prstGeom>
          <a:ln w="28575">
            <a:solidFill>
              <a:srgbClr val="C8E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0" idx="1"/>
          </p:cNvCxnSpPr>
          <p:nvPr/>
        </p:nvCxnSpPr>
        <p:spPr>
          <a:xfrm rot="5400000">
            <a:off x="5795160" y="2702115"/>
            <a:ext cx="712774" cy="565524"/>
          </a:xfrm>
          <a:prstGeom prst="curvedConnector3">
            <a:avLst>
              <a:gd name="adj1" fmla="val 50000"/>
            </a:avLst>
          </a:prstGeom>
          <a:ln w="28575">
            <a:solidFill>
              <a:srgbClr val="FFDA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95991" y="602775"/>
            <a:ext cx="2047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0.1 Hz – </a:t>
            </a:r>
            <a:r>
              <a:rPr lang="en-US" dirty="0" err="1" smtClean="0">
                <a:latin typeface="ZCOOL XiaoWei" panose="00000500000000000000" pitchFamily="2" charset="0"/>
                <a:ea typeface="ZCOOL XiaoWei" panose="00000500000000000000" pitchFamily="2" charset="0"/>
              </a:rPr>
              <a:t>Baroreflex</a:t>
            </a:r>
            <a: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 band</a:t>
            </a:r>
            <a:endParaRPr lang="en-IN" b="1" dirty="0">
              <a:latin typeface="ZCOOL XiaoWei" panose="00000500000000000000" pitchFamily="2" charset="0"/>
              <a:ea typeface="ZCOOL XiaoWei" panose="00000500000000000000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42174" y="3281837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0.25 Hz </a:t>
            </a:r>
            <a: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– Respiratory band</a:t>
            </a:r>
            <a:endParaRPr lang="en-IN" b="1" dirty="0">
              <a:latin typeface="ZCOOL XiaoWei" panose="00000500000000000000" pitchFamily="2" charset="0"/>
              <a:ea typeface="ZCOOL XiaoWei" panose="00000500000000000000" pitchFamily="2" charset="0"/>
            </a:endParaRPr>
          </a:p>
        </p:txBody>
      </p:sp>
      <p:sp>
        <p:nvSpPr>
          <p:cNvPr id="45" name="Right Arrow 44"/>
          <p:cNvSpPr/>
          <p:nvPr/>
        </p:nvSpPr>
        <p:spPr>
          <a:xfrm rot="5400000">
            <a:off x="540445" y="2868028"/>
            <a:ext cx="581891" cy="222781"/>
          </a:xfrm>
          <a:prstGeom prst="rightArrow">
            <a:avLst/>
          </a:prstGeom>
          <a:solidFill>
            <a:srgbClr val="4E5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ight Arrow 46"/>
          <p:cNvSpPr/>
          <p:nvPr/>
        </p:nvSpPr>
        <p:spPr>
          <a:xfrm rot="5400000">
            <a:off x="7785515" y="2868027"/>
            <a:ext cx="581891" cy="222781"/>
          </a:xfrm>
          <a:prstGeom prst="rightArrow">
            <a:avLst/>
          </a:prstGeom>
          <a:solidFill>
            <a:srgbClr val="4E54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/>
          <p:cNvSpPr txBox="1"/>
          <p:nvPr/>
        </p:nvSpPr>
        <p:spPr>
          <a:xfrm>
            <a:off x="7300428" y="3232450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Mixing of LF and HF </a:t>
            </a:r>
            <a:b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</a:br>
            <a: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oscillations</a:t>
            </a:r>
            <a:endParaRPr lang="en-IN" b="1" dirty="0">
              <a:latin typeface="ZCOOL XiaoWei" panose="00000500000000000000" pitchFamily="2" charset="0"/>
              <a:ea typeface="ZCOOL XiaoWei" panose="00000500000000000000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-6468" y="3232450"/>
            <a:ext cx="1983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latin typeface="ZCOOL XiaoWei" panose="00000500000000000000" pitchFamily="2" charset="0"/>
                <a:ea typeface="ZCOOL XiaoWei" panose="00000500000000000000" pitchFamily="2" charset="0"/>
              </a:rPr>
              <a:t>Unmixing</a:t>
            </a:r>
            <a: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 of LF and HF </a:t>
            </a:r>
            <a:b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</a:br>
            <a:r>
              <a:rPr lang="en-US" dirty="0" smtClean="0">
                <a:latin typeface="ZCOOL XiaoWei" panose="00000500000000000000" pitchFamily="2" charset="0"/>
                <a:ea typeface="ZCOOL XiaoWei" panose="00000500000000000000" pitchFamily="2" charset="0"/>
              </a:rPr>
              <a:t>oscillations</a:t>
            </a:r>
            <a:endParaRPr lang="en-IN" b="1" dirty="0">
              <a:latin typeface="ZCOOL XiaoWei" panose="00000500000000000000" pitchFamily="2" charset="0"/>
              <a:ea typeface="ZCOOL XiaoWe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65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6" grpId="0" animBg="1"/>
      <p:bldP spid="38" grpId="0"/>
      <p:bldP spid="39" grpId="0"/>
      <p:bldP spid="45" grpId="0" animBg="1"/>
      <p:bldP spid="48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E86E-9967-9C72-31C0-EE31A55F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13;p46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Standard IPFM Model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69332" y="694313"/>
            <a:ext cx="812319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How do continuous sympathetic and parasympathetic modulations produce discrete RR intervals</a:t>
            </a:r>
            <a:r>
              <a:rPr lang="en-US" dirty="0" smtClean="0"/>
              <a:t>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At the heart of the IPFM model is a leaky 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integrator - an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internal variable that accumulates over 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time. When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it reaches a threshold → a heartbeat 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occurs. Then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it resets and starts 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again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The model assumes that autonomic control acts through a single modulation </a:t>
            </a:r>
            <a:r>
              <a:rPr lang="en-US" dirty="0" err="1" smtClean="0">
                <a:latin typeface="Inter" panose="02000503000000020004" pitchFamily="2" charset="0"/>
                <a:ea typeface="Inter" panose="02000503000000020004" pitchFamily="2" charset="0"/>
              </a:rPr>
              <a:t>signal:m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(t)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IPFM assumes that sympathetic and parasympathetic effects combine linearly at this 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stage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Each </a:t>
            </a:r>
            <a:r>
              <a:rPr lang="en-US" dirty="0" err="1">
                <a:latin typeface="Inter" panose="02000503000000020004" pitchFamily="2" charset="0"/>
                <a:ea typeface="Inter" panose="02000503000000020004" pitchFamily="2" charset="0"/>
              </a:rPr>
              <a:t>Poincaré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-plot dimension is influenced by </a:t>
            </a:r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  <a:t>both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sympathetic and parasympathetic oscillations, so every conversion term must account for both </a:t>
            </a:r>
            <a:r>
              <a:rPr lang="en-US" b="1" dirty="0" err="1" smtClean="0">
                <a:latin typeface="Inter" panose="02000503000000020004" pitchFamily="2" charset="0"/>
                <a:ea typeface="Inter" panose="02000503000000020004" pitchFamily="2" charset="0"/>
              </a:rPr>
              <a:t>ωs</a:t>
            </a:r>
            <a:r>
              <a:rPr lang="en-US" b="1" dirty="0" smtClean="0">
                <a:latin typeface="Inter" panose="02000503000000020004" pitchFamily="2" charset="0"/>
                <a:ea typeface="Inter" panose="02000503000000020004" pitchFamily="2" charset="0"/>
              </a:rPr>
              <a:t>​ 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and </a:t>
            </a:r>
            <a:r>
              <a:rPr lang="en-US" b="1" dirty="0" err="1" smtClean="0">
                <a:latin typeface="Inter" panose="02000503000000020004" pitchFamily="2" charset="0"/>
                <a:ea typeface="Inter" panose="02000503000000020004" pitchFamily="2" charset="0"/>
              </a:rPr>
              <a:t>ωp</a:t>
            </a:r>
            <a:r>
              <a:rPr lang="en-US" dirty="0" smtClean="0">
                <a:latin typeface="Inter" panose="02000503000000020004" pitchFamily="2" charset="0"/>
                <a:ea typeface="Inter" panose="02000503000000020004" pitchFamily="2" charset="0"/>
              </a:rPr>
              <a:t>​</a:t>
            </a: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dirty="0" smtClean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44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1A1AF1-D197-BBF0-F465-2D846BA8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D36164-3BD5-10F5-A251-45F28B48878A}"/>
              </a:ext>
            </a:extLst>
          </p:cNvPr>
          <p:cNvSpPr txBox="1"/>
          <p:nvPr/>
        </p:nvSpPr>
        <p:spPr>
          <a:xfrm>
            <a:off x="150254" y="245588"/>
            <a:ext cx="43358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1. Start from physiology</a:t>
            </a:r>
          </a:p>
          <a:p>
            <a:pPr>
              <a:buNone/>
            </a:pP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Parasympathetic (vagal)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Acts </a:t>
            </a: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directly on the sinoatrial node</a:t>
            </a:r>
            <a:endParaRPr lang="en-US" dirty="0">
              <a:latin typeface="ZCOOL XiaoWei" panose="00000500000000000000" pitchFamily="2" charset="0"/>
              <a:ea typeface="ZCOOL XiaoWei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Neurotransmitter (acetylcholine) acts </a:t>
            </a: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very fast</a:t>
            </a:r>
            <a:endParaRPr lang="en-US" dirty="0">
              <a:latin typeface="ZCOOL XiaoWei" panose="00000500000000000000" pitchFamily="2" charset="0"/>
              <a:ea typeface="ZCOOL XiaoWei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Effect appears </a:t>
            </a: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within 1–2 beats</a:t>
            </a:r>
            <a:endParaRPr lang="en-US" dirty="0">
              <a:latin typeface="ZCOOL XiaoWei" panose="00000500000000000000" pitchFamily="2" charset="0"/>
              <a:ea typeface="ZCOOL XiaoWei" panose="00000500000000000000" pitchFamily="2" charset="0"/>
            </a:endParaRPr>
          </a:p>
          <a:p>
            <a:pPr>
              <a:buNone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This is why vagal tone: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 dominates beat-to-beat variability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 produces sharp, high-frequency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 strongly modulated by respiration, less smooth.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 complex, time-varying patterns</a:t>
            </a:r>
          </a:p>
          <a:p>
            <a:pPr>
              <a:buNone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/>
            </a:r>
            <a:b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</a:br>
            <a:endParaRPr lang="en-US" dirty="0">
              <a:latin typeface="ZCOOL XiaoWei" panose="00000500000000000000" pitchFamily="2" charset="0"/>
              <a:ea typeface="ZCOOL XiaoWei" panose="00000500000000000000" pitchFamily="2" charset="0"/>
            </a:endParaRPr>
          </a:p>
          <a:p>
            <a:pPr>
              <a:buNone/>
            </a:pP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Sympathetic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Acts through </a:t>
            </a: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slower biochemical pathways</a:t>
            </a:r>
            <a:endParaRPr lang="en-US" dirty="0">
              <a:latin typeface="ZCOOL XiaoWei" panose="00000500000000000000" pitchFamily="2" charset="0"/>
              <a:ea typeface="ZCOOL XiaoWei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Requires neurotransmitter diffusion and receptor activation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Effect builds over </a:t>
            </a: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many seconds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ZCOOL XiaoWei" panose="00000500000000000000" pitchFamily="2" charset="0"/>
                <a:ea typeface="ZCOOL XiaoWei" panose="00000500000000000000" pitchFamily="2" charset="0"/>
              </a:rPr>
              <a:t> captures tonic, slowly varying control</a:t>
            </a:r>
            <a:endParaRPr lang="en-US" dirty="0">
              <a:latin typeface="ZCOOL XiaoWei" panose="00000500000000000000" pitchFamily="2" charset="0"/>
              <a:ea typeface="ZCOOL XiaoWei" panose="000005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6E5830-CF84-B602-0526-03045D2BA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742174"/>
              </p:ext>
            </p:extLst>
          </p:nvPr>
        </p:nvGraphicFramePr>
        <p:xfrm>
          <a:off x="4722253" y="280607"/>
          <a:ext cx="3730424" cy="1432560"/>
        </p:xfrm>
        <a:graphic>
          <a:graphicData uri="http://schemas.openxmlformats.org/drawingml/2006/table">
            <a:tbl>
              <a:tblPr/>
              <a:tblGrid>
                <a:gridCol w="1865212">
                  <a:extLst>
                    <a:ext uri="{9D8B030D-6E8A-4147-A177-3AD203B41FA5}">
                      <a16:colId xmlns:a16="http://schemas.microsoft.com/office/drawing/2014/main" val="4252040031"/>
                    </a:ext>
                  </a:extLst>
                </a:gridCol>
                <a:gridCol w="1865212">
                  <a:extLst>
                    <a:ext uri="{9D8B030D-6E8A-4147-A177-3AD203B41FA5}">
                      <a16:colId xmlns:a16="http://schemas.microsoft.com/office/drawing/2014/main" val="365650757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Laguerre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Memory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1287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 (j)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immediate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2878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medium (j)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short-term trend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6655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 (j)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long-term accumulation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8407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294BA5E-FA28-4F3D-9575-3D0E8709CFE7}"/>
              </a:ext>
            </a:extLst>
          </p:cNvPr>
          <p:cNvSpPr txBox="1"/>
          <p:nvPr/>
        </p:nvSpPr>
        <p:spPr>
          <a:xfrm>
            <a:off x="4572000" y="1982812"/>
            <a:ext cx="42028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ZCOOL XiaoWei" panose="00000500000000000000" pitchFamily="2" charset="0"/>
                <a:ea typeface="ZCOOL XiaoWei" panose="00000500000000000000" pitchFamily="2" charset="0"/>
              </a:rPr>
              <a:t>SAI uses fewer but earlier Laguerre modes to track smooth sympathetic drift, while PAI uses more but later Laguerre modes to capture complex parasympathetic beat-to-beat modulation.</a:t>
            </a:r>
            <a:endParaRPr lang="en-IN" dirty="0">
              <a:latin typeface="ZCOOL XiaoWei" panose="00000500000000000000" pitchFamily="2" charset="0"/>
              <a:ea typeface="ZCOOL XiaoWe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65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cient Chinese Characters by Slidesgo">
  <a:themeElements>
    <a:clrScheme name="Simple Light">
      <a:dk1>
        <a:srgbClr val="2D2323"/>
      </a:dk1>
      <a:lt1>
        <a:srgbClr val="FFF4E2"/>
      </a:lt1>
      <a:dk2>
        <a:srgbClr val="DB211D"/>
      </a:dk2>
      <a:lt2>
        <a:srgbClr val="4C4C4C"/>
      </a:lt2>
      <a:accent1>
        <a:srgbClr val="CFCF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232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429</Words>
  <Application>Microsoft Office PowerPoint</Application>
  <PresentationFormat>On-screen Show (16:9)</PresentationFormat>
  <Paragraphs>69</Paragraphs>
  <Slides>12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Barlow Medium</vt:lpstr>
      <vt:lpstr>ZCOOL XiaoWei</vt:lpstr>
      <vt:lpstr>Anaheim</vt:lpstr>
      <vt:lpstr>Inter</vt:lpstr>
      <vt:lpstr>Cambria Math</vt:lpstr>
      <vt:lpstr>Arial</vt:lpstr>
      <vt:lpstr>Ancient Chinese Characters by Slidesgo</vt:lpstr>
      <vt:lpstr>Outline</vt:lpstr>
      <vt:lpstr>PowerPoint Presentation</vt:lpstr>
      <vt:lpstr>Laguerre Functions</vt:lpstr>
      <vt:lpstr>PowerPoint Presentation</vt:lpstr>
      <vt:lpstr>PowerPoint Presentation</vt:lpstr>
      <vt:lpstr>PowerPoint Presentation</vt:lpstr>
      <vt:lpstr>PowerPoint Presentation</vt:lpstr>
      <vt:lpstr>Standard IPFM Model</vt:lpstr>
      <vt:lpstr>Standard IPFM Model</vt:lpstr>
      <vt:lpstr>Standard IPFM Model</vt:lpstr>
      <vt:lpstr>Standard IPFM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Ancient Chinese Characters</dc:title>
  <cp:lastModifiedBy>Rahul</cp:lastModifiedBy>
  <cp:revision>86</cp:revision>
  <dcterms:modified xsi:type="dcterms:W3CDTF">2026-01-12T08:29:33Z</dcterms:modified>
</cp:coreProperties>
</file>